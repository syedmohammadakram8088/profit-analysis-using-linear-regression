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3"/>
  </p:notesMasterIdLst>
  <p:sldIdLst>
    <p:sldId id="261" r:id="rId2"/>
    <p:sldId id="258" r:id="rId3"/>
    <p:sldId id="262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A5DB2-59FF-438D-BB35-944E21D35C6D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40545-B657-4D32-A2C3-B7E994B6D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94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40545-B657-4D32-A2C3-B7E994B6D44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24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816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29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41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77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396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9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2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13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58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43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32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E23A1-2245-4018-B736-1038D0C55FF9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2BFC6-36CE-4BCA-8204-81D422C62B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1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46304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600" y="25603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Profit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600" y="353568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Multiple Linear Regression – 50 Startups Dataset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600" y="4328160"/>
            <a:ext cx="109728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451104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Tool: </a:t>
            </a:r>
            <a:r>
              <a:rPr lang="en-US" sz="1733" dirty="0">
                <a:latin typeface="Arial" pitchFamily="34" charset="0"/>
                <a:ea typeface="Arial" pitchFamily="34" charset="-122"/>
                <a:cs typeface="Arial" pitchFamily="34" charset="-120"/>
              </a:rPr>
              <a:t>Python  | Power BI  </a:t>
            </a:r>
            <a:r>
              <a:rPr lang="en-US" sz="1733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1733" dirty="0">
                <a:latin typeface="Arial" pitchFamily="34" charset="0"/>
                <a:ea typeface="Arial" pitchFamily="34" charset="-122"/>
                <a:cs typeface="Arial" pitchFamily="34" charset="-120"/>
              </a:rPr>
              <a:t>50 Startups CSV  </a:t>
            </a:r>
            <a:r>
              <a:rPr lang="en-US" sz="1733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r>
              <a:rPr lang="en-US" sz="1733" dirty="0"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09600" y="5181600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5522976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5864352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6205728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9840" y="5181600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39840" y="5522976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39840" y="5864352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9840" y="6205728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706B14-4EE2-9835-B2F8-67C456110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130782"/>
              </p:ext>
            </p:extLst>
          </p:nvPr>
        </p:nvGraphicFramePr>
        <p:xfrm>
          <a:off x="841248" y="1673352"/>
          <a:ext cx="10104120" cy="38039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68040">
                  <a:extLst>
                    <a:ext uri="{9D8B030D-6E8A-4147-A177-3AD203B41FA5}">
                      <a16:colId xmlns:a16="http://schemas.microsoft.com/office/drawing/2014/main" val="876282045"/>
                    </a:ext>
                  </a:extLst>
                </a:gridCol>
                <a:gridCol w="3608832">
                  <a:extLst>
                    <a:ext uri="{9D8B030D-6E8A-4147-A177-3AD203B41FA5}">
                      <a16:colId xmlns:a16="http://schemas.microsoft.com/office/drawing/2014/main" val="4038979357"/>
                    </a:ext>
                  </a:extLst>
                </a:gridCol>
                <a:gridCol w="3127248">
                  <a:extLst>
                    <a:ext uri="{9D8B030D-6E8A-4147-A177-3AD203B41FA5}">
                      <a16:colId xmlns:a16="http://schemas.microsoft.com/office/drawing/2014/main" val="803116506"/>
                    </a:ext>
                  </a:extLst>
                </a:gridCol>
              </a:tblGrid>
              <a:tr h="452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Feature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Type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Description</a:t>
                      </a:r>
                      <a:endParaRPr lang="en-IN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67833734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         R&amp;D Spend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Continuous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</a:rPr>
                        <a:t>Amount spent on Research &amp; Development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41840433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Administration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Continuous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</a:rPr>
                        <a:t>Amount spent on Administrative operations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36084474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Marketing Spend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Continuous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</a:rPr>
                        <a:t>Amount spent on Marketing strategies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804502602"/>
                  </a:ext>
                </a:extLst>
              </a:tr>
              <a:tr h="7245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State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Categorical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</a:rPr>
                        <a:t>Location: California, New York, Florida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14192350"/>
                  </a:ext>
                </a:extLst>
              </a:tr>
              <a:tr h="4528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Profit</a:t>
                      </a:r>
                      <a:endParaRPr lang="en-IN" sz="12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Continuous (Target)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</a:rPr>
                        <a:t>Net profit of the startup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399744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AF02FD-2F1B-87D5-B465-3700EC5983A1}"/>
              </a:ext>
            </a:extLst>
          </p:cNvPr>
          <p:cNvSpPr txBox="1"/>
          <p:nvPr/>
        </p:nvSpPr>
        <p:spPr>
          <a:xfrm>
            <a:off x="560070" y="332410"/>
            <a:ext cx="11555730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2400" b="1" u="sng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Dataset Overview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dataset contains records of 50 startups operating across three US states. Each record captures the financial spending across three categories and the resulting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82914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50976"/>
            <a:ext cx="11216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867" dirty="0"/>
          </a:p>
        </p:txBody>
      </p:sp>
      <p:sp>
        <p:nvSpPr>
          <p:cNvPr id="6" name="Text 3"/>
          <p:cNvSpPr/>
          <p:nvPr/>
        </p:nvSpPr>
        <p:spPr>
          <a:xfrm>
            <a:off x="487680" y="49987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9" name="Text 6"/>
          <p:cNvSpPr/>
          <p:nvPr/>
        </p:nvSpPr>
        <p:spPr>
          <a:xfrm>
            <a:off x="2682240" y="49987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9"/>
          <p:cNvSpPr/>
          <p:nvPr/>
        </p:nvSpPr>
        <p:spPr>
          <a:xfrm>
            <a:off x="4876800" y="49987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3" name="Text 10"/>
          <p:cNvSpPr/>
          <p:nvPr/>
        </p:nvSpPr>
        <p:spPr>
          <a:xfrm>
            <a:off x="4876800" y="5620512"/>
            <a:ext cx="2072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9265920" y="499872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9" name="Text 16"/>
          <p:cNvSpPr/>
          <p:nvPr/>
        </p:nvSpPr>
        <p:spPr>
          <a:xfrm>
            <a:off x="9265920" y="5620512"/>
            <a:ext cx="2072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33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E609B0-0306-9F39-ADD1-0EE11DB154ED}"/>
              </a:ext>
            </a:extLst>
          </p:cNvPr>
          <p:cNvSpPr txBox="1"/>
          <p:nvPr/>
        </p:nvSpPr>
        <p:spPr>
          <a:xfrm>
            <a:off x="182880" y="333400"/>
            <a:ext cx="11603736" cy="4735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buNone/>
            </a:pPr>
            <a:r>
              <a:rPr lang="en-IN" sz="3200" b="1" kern="0" dirty="0">
                <a:effectLst/>
                <a:latin typeface="Arial" panose="020B0604020202020204" pitchFamily="34" charset="0"/>
              </a:rPr>
              <a:t> Problem Understanding</a:t>
            </a:r>
          </a:p>
          <a:p>
            <a:pPr marL="285750" indent="-285750"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This report presents a comprehensive Multiple Linear Regression analysis conducted on the 50 Startups dataset to understand how different spending categories – R&amp;D, Administration, and Marketing – influence the profitability of startups across three US states: California, New York, and Florida.</a:t>
            </a:r>
          </a:p>
          <a:p>
            <a:pPr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primary objective is to build a predictive model that estimates profit based on the given input features, evaluate model performance, and derive actionable business insights through statistical analysis and data visualizations.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1658D8-72AF-8F94-5F49-D527E1177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929032"/>
              </p:ext>
            </p:extLst>
          </p:nvPr>
        </p:nvGraphicFramePr>
        <p:xfrm>
          <a:off x="719328" y="1536191"/>
          <a:ext cx="9933432" cy="1099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33432">
                  <a:extLst>
                    <a:ext uri="{9D8B030D-6E8A-4147-A177-3AD203B41FA5}">
                      <a16:colId xmlns:a16="http://schemas.microsoft.com/office/drawing/2014/main" val="3855679021"/>
                    </a:ext>
                  </a:extLst>
                </a:gridCol>
              </a:tblGrid>
              <a:tr h="1099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effectLst/>
                        </a:rPr>
                        <a:t>Regression Equation</a:t>
                      </a:r>
                    </a:p>
                    <a:p>
                      <a:pPr algn="ctr">
                        <a:spcBef>
                          <a:spcPts val="400"/>
                        </a:spcBef>
                        <a:buNone/>
                      </a:pPr>
                      <a:r>
                        <a:rPr lang="en-IN" sz="1100" dirty="0">
                          <a:effectLst/>
                        </a:rPr>
                        <a:t>Profit = 48,091.40 + 0.7856 × R&amp;D Spend – 0.0055 × Administration + 0.0325 × Marketing Spend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52400" marR="152400" marT="127000" marB="127000"/>
                </a:tc>
                <a:extLst>
                  <a:ext uri="{0D108BD9-81ED-4DB2-BD59-A6C34878D82A}">
                    <a16:rowId xmlns:a16="http://schemas.microsoft.com/office/drawing/2014/main" val="37111058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2DA503E-6555-C32F-D887-114BAE2CC64E}"/>
              </a:ext>
            </a:extLst>
          </p:cNvPr>
          <p:cNvSpPr txBox="1"/>
          <p:nvPr/>
        </p:nvSpPr>
        <p:spPr>
          <a:xfrm>
            <a:off x="244983" y="137160"/>
            <a:ext cx="11702034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Regression </a:t>
            </a:r>
            <a:r>
              <a:rPr lang="en-IN" sz="2400" b="1" dirty="0">
                <a:solidFill>
                  <a:srgbClr val="1F3864"/>
                </a:solidFill>
                <a:latin typeface="Arial" panose="020B0604020202020204" pitchFamily="34" charset="0"/>
              </a:rPr>
              <a:t>Analysis</a:t>
            </a:r>
            <a:endParaRPr lang="en-IN" sz="2400" b="1" dirty="0">
              <a:solidFill>
                <a:srgbClr val="1F3864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trained model produced the following regression equation: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Coefficient Interpretation: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R&amp;D Spend (+0.7856): For every ₹1 increase in R&amp;D spending, profit increases by approximately ₹0.79. This is the strongest positive driver of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Administration (–0.0055): A very slight negative coefficient suggesting that administrative overhead has negligible but slightly adverse impact on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Marketing Spend (+0.0325): A modest positive impact; increased marketing spend contributes to profit growth, but less significantly than R&amp;D.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Intercept (48,091.40): The baseline profit when all spending is zero.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4161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D27C8F-2469-E4F8-580C-B997641C2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291603"/>
              </p:ext>
            </p:extLst>
          </p:nvPr>
        </p:nvGraphicFramePr>
        <p:xfrm>
          <a:off x="2041398" y="1307592"/>
          <a:ext cx="6672834" cy="3721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36417">
                  <a:extLst>
                    <a:ext uri="{9D8B030D-6E8A-4147-A177-3AD203B41FA5}">
                      <a16:colId xmlns:a16="http://schemas.microsoft.com/office/drawing/2014/main" val="1469658104"/>
                    </a:ext>
                  </a:extLst>
                </a:gridCol>
                <a:gridCol w="3336417">
                  <a:extLst>
                    <a:ext uri="{9D8B030D-6E8A-4147-A177-3AD203B41FA5}">
                      <a16:colId xmlns:a16="http://schemas.microsoft.com/office/drawing/2014/main" val="236914752"/>
                    </a:ext>
                  </a:extLst>
                </a:gridCol>
              </a:tblGrid>
              <a:tr h="744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Metric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Value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97938171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R² Score (Train)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0.95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48431995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R² Score (Test)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0.92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339356611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Mean Absolute Error (MAE)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6,310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741407243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Root Mean Square Error (RMSE)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7,800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550111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E78620-4211-AC1F-E065-5A0F62E73CBE}"/>
              </a:ext>
            </a:extLst>
          </p:cNvPr>
          <p:cNvSpPr txBox="1"/>
          <p:nvPr/>
        </p:nvSpPr>
        <p:spPr>
          <a:xfrm>
            <a:off x="76962" y="234499"/>
            <a:ext cx="11380470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 Model Performance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model demonstrates strong predictive accuracy as evidenced by the metrics below: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D7F3E-CC74-35E0-4741-241D188C5524}"/>
              </a:ext>
            </a:extLst>
          </p:cNvPr>
          <p:cNvSpPr txBox="1"/>
          <p:nvPr/>
        </p:nvSpPr>
        <p:spPr>
          <a:xfrm>
            <a:off x="203454" y="5470112"/>
            <a:ext cx="11656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R² score of 0.95 on training data and 0.92 on test data indicates the model generalizes well and explains approximately 92% of the variance in profit on unseen data. The difference between train and test R² is minimal (0.03), confirming there is no significant overfitting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817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8CA5DE-7FE6-84FE-BBFC-A984DF256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540335"/>
              </p:ext>
            </p:extLst>
          </p:nvPr>
        </p:nvGraphicFramePr>
        <p:xfrm>
          <a:off x="1344168" y="2267712"/>
          <a:ext cx="8485632" cy="2148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1408">
                  <a:extLst>
                    <a:ext uri="{9D8B030D-6E8A-4147-A177-3AD203B41FA5}">
                      <a16:colId xmlns:a16="http://schemas.microsoft.com/office/drawing/2014/main" val="114505901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137912339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3849501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3199023708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R&amp;D Spend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Administration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Marketing Spend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Predicted Profit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71949187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23,940.93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96,489.63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1,37,001.10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70,818.24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9514984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21,892.92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81,910.77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1,64,270.70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</a:rPr>
                        <a:t>70,174.34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5678471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295D046-41EE-62A8-5DE2-8D1872F99B4F}"/>
              </a:ext>
            </a:extLst>
          </p:cNvPr>
          <p:cNvSpPr txBox="1"/>
          <p:nvPr/>
        </p:nvSpPr>
        <p:spPr>
          <a:xfrm>
            <a:off x="164592" y="978407"/>
            <a:ext cx="11475720" cy="528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buNone/>
            </a:pPr>
            <a:r>
              <a:rPr lang="en-IN" sz="3200" b="1" kern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or Given Inputs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Using the trained regression model, profit was predicted for the following two input records as specified in the task: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dirty="0">
              <a:solidFill>
                <a:srgbClr val="1A1A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solidFill>
                <a:srgbClr val="1A1A2E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Both predicted profits fall in the ₹70,000–₹71,000 range, consistent with startup profiles that have moderate R&amp;D investment (~₹22,000–24,000) and mid-range marketing spend.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pPr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9B3F8-FD83-4725-AB82-B577CF8387A4}"/>
              </a:ext>
            </a:extLst>
          </p:cNvPr>
          <p:cNvSpPr txBox="1"/>
          <p:nvPr/>
        </p:nvSpPr>
        <p:spPr>
          <a:xfrm>
            <a:off x="1524" y="13443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Profit Predictions for Given Inputs</a:t>
            </a:r>
            <a:endParaRPr lang="en-IN" sz="2400" u="sng" dirty="0"/>
          </a:p>
        </p:txBody>
      </p:sp>
    </p:spTree>
    <p:extLst>
      <p:ext uri="{BB962C8B-B14F-4D97-AF65-F5344CB8AC3E}">
        <p14:creationId xmlns:p14="http://schemas.microsoft.com/office/powerpoint/2010/main" val="701858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FD3F09-0896-4403-934C-2C9B6B22C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D73EAC-1432-4F3F-9E16-DD9703D7C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2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F2602-3AB1-F4DB-BF0A-0C3235933723}"/>
              </a:ext>
            </a:extLst>
          </p:cNvPr>
          <p:cNvSpPr txBox="1"/>
          <p:nvPr/>
        </p:nvSpPr>
        <p:spPr>
          <a:xfrm>
            <a:off x="203454" y="112994"/>
            <a:ext cx="11857482" cy="5677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Key Insights</a:t>
            </a: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R&amp;D Spend is the strongest predictor of profit with a coefficient of 0.7856 – every additional dollar spent on R&amp;D generates nearly 79 cents in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Administration spend has a negligible and slightly negative impact (–0.0055) – it does not contribute to revenue generation.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Marketing has a moderate positive effect (+0.0325) but returns are lower per dollar compared to R&amp;D.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Florida startups show the highest average profitability despite being the smallest cohort.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model explains 92% of profit variance on unseen data (R² = 0.92), indicating very high reliability.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Total marketing spend (10.55M) far exceeds R&amp;D spend (3.69M), yet R&amp;D drives more value per rupee.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88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14835B-A78A-BA7B-CCD3-FE1367BFBF7E}"/>
              </a:ext>
            </a:extLst>
          </p:cNvPr>
          <p:cNvSpPr txBox="1"/>
          <p:nvPr/>
        </p:nvSpPr>
        <p:spPr>
          <a:xfrm>
            <a:off x="157734" y="100940"/>
            <a:ext cx="11766042" cy="608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1F3864"/>
                </a:solidFill>
                <a:effectLst/>
                <a:latin typeface="Arial" panose="020B0604020202020204" pitchFamily="34" charset="0"/>
              </a:rPr>
              <a:t>Recommendations to the Company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Increase R&amp;D Investment: Prioritize R&amp;D budget as it directly drives profitability. A 10% increase in R&amp;D could yield approximately 7.86% improvement in profit.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Optimize Administration Costs: Since admin spend shows a slight negative coefficient, companies should streamline administrative overhead through automation or process optimization.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Reassess Marketing Allocation: While marketing positively impacts profit, the return per dollar is significantly lower than R&amp;D. Marketing spend should be optimized (quality over quantity).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Target Florida for Expansion: Florida startups show the highest average profit, suggesting  market conditions. New investment or expansion in this state may yield better returns.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Use Predictive Model for Budgeting: The regression model (R² = 0.92) is reliable enough for quarterly profit planning. Input planned spend values to get projected profit estimates.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Focus on High-R&amp;D Startups: Startups in the top quartile of R&amp;D spend consistently achieve profits above 1,50,000, reinforcing the R&amp;D-profit relationship.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7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B99131-9BD8-33A3-3FEC-0CA12F7ED852}"/>
              </a:ext>
            </a:extLst>
          </p:cNvPr>
          <p:cNvSpPr txBox="1"/>
          <p:nvPr/>
        </p:nvSpPr>
        <p:spPr>
          <a:xfrm>
            <a:off x="3989451" y="1606689"/>
            <a:ext cx="3813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Thank You    </a:t>
            </a:r>
            <a:endParaRPr lang="en-IN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F99C6-1E27-4F2C-9621-A6C46B490316}"/>
              </a:ext>
            </a:extLst>
          </p:cNvPr>
          <p:cNvSpPr txBox="1"/>
          <p:nvPr/>
        </p:nvSpPr>
        <p:spPr>
          <a:xfrm>
            <a:off x="6438900" y="4039285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Submitted By:</a:t>
            </a:r>
            <a:r>
              <a:rPr lang="en-US" sz="4000" dirty="0"/>
              <a:t> Syed Mohammad Akram.</a:t>
            </a:r>
            <a:br>
              <a:rPr lang="en-US" sz="4000" dirty="0"/>
            </a:br>
            <a:r>
              <a:rPr lang="en-US" sz="4000" dirty="0"/>
              <a:t>_</a:t>
            </a:r>
            <a:r>
              <a:rPr lang="en-US" sz="4000" b="1" dirty="0" err="1"/>
              <a:t>Rubixe</a:t>
            </a:r>
            <a:r>
              <a:rPr lang="en-US" sz="4000" b="1" dirty="0"/>
              <a:t> Internship Project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4315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</TotalTime>
  <Words>842</Words>
  <Application>Microsoft Office PowerPoint</Application>
  <PresentationFormat>Widescreen</PresentationFormat>
  <Paragraphs>104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gopi santhosh reddy</dc:creator>
  <cp:lastModifiedBy>Syed Mohammad Akram</cp:lastModifiedBy>
  <cp:revision>4</cp:revision>
  <dcterms:created xsi:type="dcterms:W3CDTF">2026-06-17T05:19:58Z</dcterms:created>
  <dcterms:modified xsi:type="dcterms:W3CDTF">2026-06-18T07:04:11Z</dcterms:modified>
</cp:coreProperties>
</file>